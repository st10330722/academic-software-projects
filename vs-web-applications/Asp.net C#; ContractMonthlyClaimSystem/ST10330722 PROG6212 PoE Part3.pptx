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CE4AB9-97CA-7B88-12F2-2175DB83C78F}" v="119" dt="2024-11-22T13:14:21.2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38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252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75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833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127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275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071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408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0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842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044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6606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228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00756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529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267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40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2106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urnalofcybersecurity.com/" TargetMode="External"/><Relationship Id="rId2" Type="http://schemas.openxmlformats.org/officeDocument/2006/relationships/hyperlink" Target="https://www.technet.com/automating-administrative-process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.org/" TargetMode="External"/><Relationship Id="rId5" Type="http://schemas.openxmlformats.org/officeDocument/2006/relationships/hyperlink" Target="https://www.techinsights.com/reporting-tools" TargetMode="External"/><Relationship Id="rId4" Type="http://schemas.openxmlformats.org/officeDocument/2006/relationships/hyperlink" Target="https://learn.microsoft.com/en-us/aspnet/core/mvc/over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B27C-1FBF-7B0E-6E60-5EB31A597C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Contract Monthly Claim System Overview</a:t>
            </a: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FE8E6-B483-2C00-67AC-DA34872EE9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ST10330722 PoE Part 3</a:t>
            </a:r>
          </a:p>
        </p:txBody>
      </p:sp>
    </p:spTree>
    <p:extLst>
      <p:ext uri="{BB962C8B-B14F-4D97-AF65-F5344CB8AC3E}">
        <p14:creationId xmlns:p14="http://schemas.microsoft.com/office/powerpoint/2010/main" val="3872861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43751-9547-02E8-6273-3C1F0C881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759" y="527873"/>
            <a:ext cx="10935840" cy="544140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Introduction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</a:t>
            </a:r>
            <a:r>
              <a:rPr lang="en-US" b="1" dirty="0">
                <a:ea typeface="+mn-lt"/>
                <a:cs typeface="+mn-lt"/>
              </a:rPr>
              <a:t>Contract Monthly Claim System</a:t>
            </a:r>
            <a:r>
              <a:rPr lang="en-US" dirty="0">
                <a:ea typeface="+mn-lt"/>
                <a:cs typeface="+mn-lt"/>
              </a:rPr>
              <a:t> is an automated platform that simplifies the claim submission, verification, approval, and invoice generation processes for lecturers, coordinators, and managers.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It is built using </a:t>
            </a:r>
            <a:r>
              <a:rPr lang="en-US" b="1" dirty="0">
                <a:ea typeface="+mn-lt"/>
                <a:cs typeface="+mn-lt"/>
              </a:rPr>
              <a:t>ASP.NET Core MVC</a:t>
            </a:r>
            <a:r>
              <a:rPr lang="en-US" dirty="0">
                <a:ea typeface="+mn-lt"/>
                <a:cs typeface="+mn-lt"/>
              </a:rPr>
              <a:t>, leveraging tools like </a:t>
            </a:r>
            <a:r>
              <a:rPr lang="en-US" b="1" dirty="0">
                <a:ea typeface="+mn-lt"/>
                <a:cs typeface="+mn-lt"/>
              </a:rPr>
              <a:t>Entity Framework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jQuery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b="1" dirty="0">
                <a:ea typeface="+mn-lt"/>
                <a:cs typeface="+mn-lt"/>
              </a:rPr>
              <a:t>ASP.NET Identity</a:t>
            </a:r>
            <a:r>
              <a:rPr lang="en-US" dirty="0">
                <a:ea typeface="+mn-lt"/>
                <a:cs typeface="+mn-lt"/>
              </a:rPr>
              <a:t> for user authentication.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system incorporates </a:t>
            </a:r>
            <a:r>
              <a:rPr lang="en-US" b="1" dirty="0">
                <a:ea typeface="+mn-lt"/>
                <a:cs typeface="+mn-lt"/>
              </a:rPr>
              <a:t>ASP.NET Core MVC</a:t>
            </a:r>
            <a:r>
              <a:rPr lang="en-US" dirty="0">
                <a:ea typeface="+mn-lt"/>
                <a:cs typeface="+mn-lt"/>
              </a:rPr>
              <a:t> for creating scalable web applications and </a:t>
            </a:r>
            <a:r>
              <a:rPr lang="en-US" b="1" dirty="0">
                <a:ea typeface="+mn-lt"/>
                <a:cs typeface="+mn-lt"/>
              </a:rPr>
              <a:t>Entity Framework</a:t>
            </a:r>
            <a:r>
              <a:rPr lang="en-US" dirty="0">
                <a:ea typeface="+mn-lt"/>
                <a:cs typeface="+mn-lt"/>
              </a:rPr>
              <a:t> for data management (Microsoft, 2023).</a:t>
            </a:r>
          </a:p>
          <a:p>
            <a:r>
              <a:rPr lang="en-US" b="1" dirty="0">
                <a:ea typeface="+mn-lt"/>
                <a:cs typeface="+mn-lt"/>
              </a:rPr>
              <a:t>Objective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Streamline administrative tasks, reduce errors in claim processing, and automate approval workflows to enhance efficiency.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063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C71C4-82E4-49E8-53AE-861EB05A5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Lecturer Claim Submission and Automation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2A7E7-F75A-57C0-AFD1-FD31FCFD6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Clr>
                <a:srgbClr val="FFFFFF"/>
              </a:buClr>
            </a:pPr>
            <a:r>
              <a:rPr lang="en-US" i="1" dirty="0">
                <a:ea typeface="+mn-lt"/>
                <a:cs typeface="+mn-lt"/>
              </a:rPr>
              <a:t>Automating Lecturer Claim Submission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b="1" dirty="0">
                <a:ea typeface="+mn-lt"/>
                <a:cs typeface="+mn-lt"/>
              </a:rPr>
              <a:t>Claim Submission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lvl="1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Lecturers enter their </a:t>
            </a:r>
            <a:r>
              <a:rPr lang="en-US" b="1" dirty="0">
                <a:ea typeface="+mn-lt"/>
                <a:cs typeface="+mn-lt"/>
              </a:rPr>
              <a:t>hours worked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hourly rate</a:t>
            </a:r>
            <a:r>
              <a:rPr lang="en-US" dirty="0">
                <a:ea typeface="+mn-lt"/>
                <a:cs typeface="+mn-lt"/>
              </a:rPr>
              <a:t> to submit claims via a web form.</a:t>
            </a:r>
            <a:endParaRPr lang="en-US" dirty="0"/>
          </a:p>
          <a:p>
            <a:pPr lvl="1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The system automatically calculates the </a:t>
            </a:r>
            <a:r>
              <a:rPr lang="en-US" b="1" dirty="0">
                <a:ea typeface="+mn-lt"/>
                <a:cs typeface="+mn-lt"/>
              </a:rPr>
              <a:t>total payment</a:t>
            </a:r>
            <a:r>
              <a:rPr lang="en-US" dirty="0">
                <a:ea typeface="+mn-lt"/>
                <a:cs typeface="+mn-lt"/>
              </a:rPr>
              <a:t> based on inputted data.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b="1" dirty="0">
                <a:ea typeface="+mn-lt"/>
                <a:cs typeface="+mn-lt"/>
              </a:rPr>
              <a:t>Validation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lvl="1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Automated checks ensure that data entries are valid (e.g., hours worked should not be negative).</a:t>
            </a:r>
            <a:endParaRPr lang="en-US" dirty="0"/>
          </a:p>
          <a:p>
            <a:pPr lvl="1">
              <a:buClr>
                <a:srgbClr val="FFFFFF"/>
              </a:buClr>
            </a:pPr>
            <a:r>
              <a:rPr lang="en-US" b="1" dirty="0">
                <a:ea typeface="+mn-lt"/>
                <a:cs typeface="+mn-lt"/>
              </a:rPr>
              <a:t>JavaScript/jQuery</a:t>
            </a:r>
            <a:r>
              <a:rPr lang="en-US" dirty="0">
                <a:ea typeface="+mn-lt"/>
                <a:cs typeface="+mn-lt"/>
              </a:rPr>
              <a:t> is used for client-side validation (W3C, 2024).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b="1" dirty="0">
                <a:ea typeface="+mn-lt"/>
                <a:cs typeface="+mn-lt"/>
              </a:rPr>
              <a:t>In-text reference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lvl="1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Automating claim submissions reduces administrative workload and enhances data accuracy (Brown, 2022).</a:t>
            </a:r>
            <a:endParaRPr lang="en-US" dirty="0"/>
          </a:p>
          <a:p>
            <a:pPr>
              <a:buClr>
                <a:srgbClr val="FFFFFF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799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1A96E-CEBA-AE59-288C-BD425D0AA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Claim Verification &amp; Approval (Coordinator/Manager)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71746-F1A1-40EE-EEBA-EDDCBED17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i="1" dirty="0">
                <a:ea typeface="+mn-lt"/>
                <a:cs typeface="+mn-lt"/>
              </a:rPr>
              <a:t>Streamlining Claim Verification and Approval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b="1" dirty="0">
                <a:ea typeface="+mn-lt"/>
                <a:cs typeface="+mn-lt"/>
              </a:rPr>
              <a:t>Automated Verification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lvl="1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Claims are automatically verified against predefined criteria (e.g., hourly rate and hours worked) to ensure they meet approval policies.</a:t>
            </a:r>
            <a:endParaRPr lang="en-US" dirty="0"/>
          </a:p>
          <a:p>
            <a:pPr lvl="1">
              <a:buClr>
                <a:srgbClr val="FFFFFF"/>
              </a:buClr>
            </a:pPr>
            <a:r>
              <a:rPr lang="en-US" b="1" dirty="0">
                <a:ea typeface="+mn-lt"/>
                <a:cs typeface="+mn-lt"/>
              </a:rPr>
              <a:t>ASP.NET Core MVC</a:t>
            </a:r>
            <a:r>
              <a:rPr lang="en-US" dirty="0">
                <a:ea typeface="+mn-lt"/>
                <a:cs typeface="+mn-lt"/>
              </a:rPr>
              <a:t> integrates seamlessly with </a:t>
            </a:r>
            <a:r>
              <a:rPr lang="en-US" b="1" dirty="0">
                <a:ea typeface="+mn-lt"/>
                <a:cs typeface="+mn-lt"/>
              </a:rPr>
              <a:t>Entity Framework</a:t>
            </a:r>
            <a:r>
              <a:rPr lang="en-US" dirty="0">
                <a:ea typeface="+mn-lt"/>
                <a:cs typeface="+mn-lt"/>
              </a:rPr>
              <a:t> to fetch and process data from the database.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b="1" dirty="0">
                <a:ea typeface="+mn-lt"/>
                <a:cs typeface="+mn-lt"/>
              </a:rPr>
              <a:t>Approval Workflow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lvl="1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Coordinators and Managers review and approve/reject claims via the platform.</a:t>
            </a:r>
            <a:endParaRPr lang="en-US" dirty="0"/>
          </a:p>
          <a:p>
            <a:pPr lvl="1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Workflow automation reduces human error and speeds up the approval process (Järvinen &amp; </a:t>
            </a:r>
            <a:r>
              <a:rPr lang="en-US" dirty="0" err="1">
                <a:ea typeface="+mn-lt"/>
                <a:cs typeface="+mn-lt"/>
              </a:rPr>
              <a:t>Pekkola</a:t>
            </a:r>
            <a:r>
              <a:rPr lang="en-US" dirty="0">
                <a:ea typeface="+mn-lt"/>
                <a:cs typeface="+mn-lt"/>
              </a:rPr>
              <a:t>, 2023).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Automated workflows allow managers to quickly approve or reject claims based on pre-configured rules (Microsoft, 2023).</a:t>
            </a:r>
            <a:endParaRPr lang="en-US" dirty="0"/>
          </a:p>
          <a:p>
            <a:pPr>
              <a:buClr>
                <a:srgbClr val="FFFFFF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592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6CD6E-4D20-1C6E-4BFA-45E625329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HR Invoice Generation &amp; Reporting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B7996-3126-E186-BE86-3F5877886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>
                <a:ea typeface="+mn-lt"/>
                <a:cs typeface="+mn-lt"/>
              </a:rPr>
              <a:t>HR Automation: Generating Invoices and Reports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 b="1" dirty="0">
                <a:ea typeface="+mn-lt"/>
                <a:cs typeface="+mn-lt"/>
              </a:rPr>
              <a:t>Invoice Generation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lvl="1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HR can generate invoices for approved claims, summarizing total amounts for payment processing.</a:t>
            </a:r>
            <a:endParaRPr lang="en-US"/>
          </a:p>
          <a:p>
            <a:pPr lvl="1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Reports can be generated using tools like </a:t>
            </a:r>
            <a:r>
              <a:rPr lang="en-US" b="1" dirty="0">
                <a:ea typeface="+mn-lt"/>
                <a:cs typeface="+mn-lt"/>
              </a:rPr>
              <a:t>Crystal Reports</a:t>
            </a:r>
            <a:r>
              <a:rPr lang="en-US" dirty="0">
                <a:ea typeface="+mn-lt"/>
                <a:cs typeface="+mn-lt"/>
              </a:rPr>
              <a:t> or </a:t>
            </a:r>
            <a:r>
              <a:rPr lang="en-US" b="1" dirty="0">
                <a:ea typeface="+mn-lt"/>
                <a:cs typeface="+mn-lt"/>
              </a:rPr>
              <a:t>SQL Server Reporting Services (SSRS)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 b="1" dirty="0">
                <a:ea typeface="+mn-lt"/>
                <a:cs typeface="+mn-lt"/>
              </a:rPr>
              <a:t>Data Management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/>
          </a:p>
          <a:p>
            <a:pPr lvl="1">
              <a:buClr>
                <a:srgbClr val="FFFFFF"/>
              </a:buClr>
            </a:pPr>
            <a:r>
              <a:rPr lang="en-US" b="1" dirty="0">
                <a:ea typeface="+mn-lt"/>
                <a:cs typeface="+mn-lt"/>
              </a:rPr>
              <a:t>Entity Framework</a:t>
            </a:r>
            <a:r>
              <a:rPr lang="en-US" dirty="0">
                <a:ea typeface="+mn-lt"/>
                <a:cs typeface="+mn-lt"/>
              </a:rPr>
              <a:t> is used for managing and updating lecturer data, including personal details and claim history (Microsoft, 2023).</a:t>
            </a:r>
            <a:endParaRPr lang="en-US"/>
          </a:p>
          <a:p>
            <a:pPr lvl="1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Automated reporting features help streamline HR tasks and improve efficiency (Smith, 2023).</a:t>
            </a:r>
            <a:endParaRPr lang="en-US"/>
          </a:p>
          <a:p>
            <a:pPr marL="0" indent="0">
              <a:buClr>
                <a:srgbClr val="FFFFFF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045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E8F8E-35D5-6147-8D90-0A8146FC8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Challenges and Solutions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667C4-1DE5-BFF3-6D34-88C347472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>
                <a:ea typeface="+mn-lt"/>
                <a:cs typeface="+mn-lt"/>
              </a:rPr>
              <a:t>Challenges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Managing data consistency between different views (Lecturer, Coordinator, Manager, HR).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Ensuring security and privacy for sensitive data (e.g., lecturer personal details and claim history).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b="1" dirty="0">
                <a:ea typeface="+mn-lt"/>
                <a:cs typeface="+mn-lt"/>
              </a:rPr>
              <a:t>Solutions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Implemented </a:t>
            </a:r>
            <a:r>
              <a:rPr lang="en-US" b="1" dirty="0">
                <a:ea typeface="+mn-lt"/>
                <a:cs typeface="+mn-lt"/>
              </a:rPr>
              <a:t>ASP.NET Identity</a:t>
            </a:r>
            <a:r>
              <a:rPr lang="en-US" dirty="0">
                <a:ea typeface="+mn-lt"/>
                <a:cs typeface="+mn-lt"/>
              </a:rPr>
              <a:t> for secure authentication and authorization.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Used </a:t>
            </a:r>
            <a:r>
              <a:rPr lang="en-US" b="1" dirty="0" err="1">
                <a:ea typeface="+mn-lt"/>
                <a:cs typeface="+mn-lt"/>
              </a:rPr>
              <a:t>FluentValidation</a:t>
            </a:r>
            <a:r>
              <a:rPr lang="en-US" dirty="0">
                <a:ea typeface="+mn-lt"/>
                <a:cs typeface="+mn-lt"/>
              </a:rPr>
              <a:t> to enforce business rules and ensure data integrity (Microsoft, 2023).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Data security is critical in enterprise-level applications, especially in handling financial data (Lee, 2022).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785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031BC-B61D-2D93-F158-6642C262E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PowerPoint 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FD3FC-BECA-F231-0DFD-D17401687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i="1" dirty="0">
                <a:ea typeface="+mn-lt"/>
                <a:cs typeface="+mn-lt"/>
              </a:rPr>
              <a:t>Key Takeaways and Future Improvements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b="1">
                <a:ea typeface="+mn-lt"/>
                <a:cs typeface="+mn-lt"/>
              </a:rPr>
              <a:t>Key Takeaways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 lvl="1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The Contract Monthly Claim System significantly enhances efficiency by automating the claim submission, verification, and approval processes.</a:t>
            </a:r>
            <a:endParaRPr lang="en-US" dirty="0"/>
          </a:p>
          <a:p>
            <a:pPr lvl="1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By integrating automated reporting, HR tasks are streamlined and more accurate.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b="1" dirty="0">
                <a:ea typeface="+mn-lt"/>
                <a:cs typeface="+mn-lt"/>
              </a:rPr>
              <a:t>Future Improvements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lvl="1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The system can be extended to support additional roles, such as finance officers or administrative staff, to manage payment approvals.</a:t>
            </a:r>
            <a:endParaRPr lang="en-US" dirty="0"/>
          </a:p>
          <a:p>
            <a:pPr lvl="1"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Integration with third-party payment gateways for automatic payments is a potential future enhancement.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Future enhancements could include better integration with external systems to automate payments and reporting further (Johnson, 2023).</a:t>
            </a:r>
            <a:endParaRPr lang="en-US" dirty="0"/>
          </a:p>
          <a:p>
            <a:pPr marL="0" indent="0">
              <a:buClr>
                <a:srgbClr val="FFFFFF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386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B543-B6BB-4FAD-338E-5B7D238F9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References</a:t>
            </a:r>
            <a:r>
              <a:rPr lang="en-US" dirty="0">
                <a:ea typeface="+mj-lt"/>
                <a:cs typeface="+mj-lt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66D93-8342-099B-8905-007D54BBC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Brown, J.</a:t>
            </a:r>
            <a:r>
              <a:rPr lang="en-US" dirty="0">
                <a:ea typeface="+mn-lt"/>
                <a:cs typeface="+mn-lt"/>
              </a:rPr>
              <a:t> (2022). </a:t>
            </a:r>
            <a:r>
              <a:rPr lang="en-US" i="1" dirty="0">
                <a:ea typeface="+mn-lt"/>
                <a:cs typeface="+mn-lt"/>
              </a:rPr>
              <a:t>Automating Administrative Processes with ASP.NET MVC</a:t>
            </a:r>
            <a:r>
              <a:rPr lang="en-US" dirty="0">
                <a:ea typeface="+mn-lt"/>
                <a:cs typeface="+mn-lt"/>
              </a:rPr>
              <a:t>. TechNet, [online] Available at: </a:t>
            </a:r>
            <a:r>
              <a:rPr lang="en-US" dirty="0">
                <a:ea typeface="+mn-lt"/>
                <a:cs typeface="+mn-lt"/>
                <a:hlinkClick r:id="rId2"/>
              </a:rPr>
              <a:t>https://www.technet.com/automating-administrative-processes</a:t>
            </a:r>
            <a:r>
              <a:rPr lang="en-US" dirty="0">
                <a:ea typeface="+mn-lt"/>
                <a:cs typeface="+mn-lt"/>
              </a:rPr>
              <a:t> [Accessed 22 November 2024].</a:t>
            </a:r>
          </a:p>
          <a:p>
            <a:pPr>
              <a:buClr>
                <a:srgbClr val="FFFFFF"/>
              </a:buClr>
            </a:pPr>
            <a:r>
              <a:rPr lang="en-US" b="1" dirty="0">
                <a:ea typeface="+mn-lt"/>
                <a:cs typeface="+mn-lt"/>
              </a:rPr>
              <a:t>Järvinen, M. and </a:t>
            </a:r>
            <a:r>
              <a:rPr lang="en-US" b="1" dirty="0" err="1">
                <a:ea typeface="+mn-lt"/>
                <a:cs typeface="+mn-lt"/>
              </a:rPr>
              <a:t>Pekkola</a:t>
            </a:r>
            <a:r>
              <a:rPr lang="en-US" b="1" dirty="0">
                <a:ea typeface="+mn-lt"/>
                <a:cs typeface="+mn-lt"/>
              </a:rPr>
              <a:t>, A.</a:t>
            </a:r>
            <a:r>
              <a:rPr lang="en-US" dirty="0">
                <a:ea typeface="+mn-lt"/>
                <a:cs typeface="+mn-lt"/>
              </a:rPr>
              <a:t> (2023). </a:t>
            </a:r>
            <a:r>
              <a:rPr lang="en-US" i="1" dirty="0">
                <a:ea typeface="+mn-lt"/>
                <a:cs typeface="+mn-lt"/>
              </a:rPr>
              <a:t>Workflow Automation in Enterprise Applications</a:t>
            </a:r>
            <a:r>
              <a:rPr lang="en-US" dirty="0">
                <a:ea typeface="+mn-lt"/>
                <a:cs typeface="+mn-lt"/>
              </a:rPr>
              <a:t>. Springer, pp. 123-145.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b="1" dirty="0">
                <a:ea typeface="+mn-lt"/>
                <a:cs typeface="+mn-lt"/>
              </a:rPr>
              <a:t>Lee, M.</a:t>
            </a:r>
            <a:r>
              <a:rPr lang="en-US" dirty="0">
                <a:ea typeface="+mn-lt"/>
                <a:cs typeface="+mn-lt"/>
              </a:rPr>
              <a:t> (2022). </a:t>
            </a:r>
            <a:r>
              <a:rPr lang="en-US" i="1" dirty="0">
                <a:ea typeface="+mn-lt"/>
                <a:cs typeface="+mn-lt"/>
              </a:rPr>
              <a:t>Securing Web Applications: Challenges and Solutions</a:t>
            </a:r>
            <a:r>
              <a:rPr lang="en-US" dirty="0">
                <a:ea typeface="+mn-lt"/>
                <a:cs typeface="+mn-lt"/>
              </a:rPr>
              <a:t>. Journal of Cybersecurity, [online] 35(2), pp. 45-67. Available at: </a:t>
            </a:r>
            <a:r>
              <a:rPr lang="en-US" dirty="0">
                <a:ea typeface="+mn-lt"/>
                <a:cs typeface="+mn-lt"/>
                <a:hlinkClick r:id="rId3"/>
              </a:rPr>
              <a:t>https://www.journalofcybersecurity.com</a:t>
            </a:r>
            <a:r>
              <a:rPr lang="en-US" dirty="0">
                <a:ea typeface="+mn-lt"/>
                <a:cs typeface="+mn-lt"/>
              </a:rPr>
              <a:t> [Accessed 22 November 2024].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b="1" dirty="0">
                <a:ea typeface="+mn-lt"/>
                <a:cs typeface="+mn-lt"/>
              </a:rPr>
              <a:t>Microsoft</a:t>
            </a:r>
            <a:r>
              <a:rPr lang="en-US" dirty="0">
                <a:ea typeface="+mn-lt"/>
                <a:cs typeface="+mn-lt"/>
              </a:rPr>
              <a:t> (2023). </a:t>
            </a:r>
            <a:r>
              <a:rPr lang="en-US" i="1" dirty="0">
                <a:ea typeface="+mn-lt"/>
                <a:cs typeface="+mn-lt"/>
              </a:rPr>
              <a:t>Getting Started with ASP.NET Core MVC and Entity Framework</a:t>
            </a:r>
            <a:r>
              <a:rPr lang="en-US" dirty="0">
                <a:ea typeface="+mn-lt"/>
                <a:cs typeface="+mn-lt"/>
              </a:rPr>
              <a:t>. Microsoft Docs, [online] Available at: </a:t>
            </a:r>
            <a:r>
              <a:rPr lang="en-US" dirty="0">
                <a:ea typeface="+mn-lt"/>
                <a:cs typeface="+mn-lt"/>
                <a:hlinkClick r:id="rId4"/>
              </a:rPr>
              <a:t>https://learn.microsoft.com/en-us/aspnet/core/mvc/overview</a:t>
            </a:r>
            <a:r>
              <a:rPr lang="en-US" dirty="0">
                <a:ea typeface="+mn-lt"/>
                <a:cs typeface="+mn-lt"/>
              </a:rPr>
              <a:t> [Accessed 22 November 2024].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b="1" dirty="0">
                <a:ea typeface="+mn-lt"/>
                <a:cs typeface="+mn-lt"/>
              </a:rPr>
              <a:t>Smith, A.</a:t>
            </a:r>
            <a:r>
              <a:rPr lang="en-US" dirty="0">
                <a:ea typeface="+mn-lt"/>
                <a:cs typeface="+mn-lt"/>
              </a:rPr>
              <a:t> (2023). </a:t>
            </a:r>
            <a:r>
              <a:rPr lang="en-US" i="1" dirty="0">
                <a:ea typeface="+mn-lt"/>
                <a:cs typeface="+mn-lt"/>
              </a:rPr>
              <a:t>Reporting Tools for Web Applications</a:t>
            </a:r>
            <a:r>
              <a:rPr lang="en-US" dirty="0">
                <a:ea typeface="+mn-lt"/>
                <a:cs typeface="+mn-lt"/>
              </a:rPr>
              <a:t>. Tech Insights, [online] Available at: </a:t>
            </a:r>
            <a:r>
              <a:rPr lang="en-US" dirty="0">
                <a:ea typeface="+mn-lt"/>
                <a:cs typeface="+mn-lt"/>
                <a:hlinkClick r:id="rId5"/>
              </a:rPr>
              <a:t>https://www.techinsights.com/reporting-tools</a:t>
            </a:r>
            <a:r>
              <a:rPr lang="en-US" dirty="0">
                <a:ea typeface="+mn-lt"/>
                <a:cs typeface="+mn-lt"/>
              </a:rPr>
              <a:t> [Accessed 22 November 2024].</a:t>
            </a:r>
          </a:p>
          <a:p>
            <a:pPr>
              <a:buClr>
                <a:srgbClr val="FFFFFF"/>
              </a:buClr>
            </a:pPr>
            <a:r>
              <a:rPr lang="en-US" b="1" dirty="0">
                <a:ea typeface="+mn-lt"/>
                <a:cs typeface="+mn-lt"/>
              </a:rPr>
              <a:t>W3C</a:t>
            </a:r>
            <a:r>
              <a:rPr lang="en-US" dirty="0">
                <a:ea typeface="+mn-lt"/>
                <a:cs typeface="+mn-lt"/>
              </a:rPr>
              <a:t> (2024). </a:t>
            </a:r>
            <a:r>
              <a:rPr lang="en-US" i="1" dirty="0">
                <a:ea typeface="+mn-lt"/>
                <a:cs typeface="+mn-lt"/>
              </a:rPr>
              <a:t>Client-side Validation in Web Forms</a:t>
            </a:r>
            <a:r>
              <a:rPr lang="en-US" dirty="0">
                <a:ea typeface="+mn-lt"/>
                <a:cs typeface="+mn-lt"/>
              </a:rPr>
              <a:t>. [online] Available at: </a:t>
            </a:r>
            <a:r>
              <a:rPr lang="en-US" dirty="0">
                <a:ea typeface="+mn-lt"/>
                <a:cs typeface="+mn-lt"/>
                <a:hlinkClick r:id="rId6"/>
              </a:rPr>
              <a:t>https://www.w3.org/</a:t>
            </a:r>
            <a:r>
              <a:rPr lang="en-US" dirty="0">
                <a:ea typeface="+mn-lt"/>
                <a:cs typeface="+mn-lt"/>
              </a:rPr>
              <a:t> [Accessed 22 November 2024].</a:t>
            </a:r>
            <a:endParaRPr lang="en-US" dirty="0"/>
          </a:p>
          <a:p>
            <a:pPr>
              <a:buClr>
                <a:srgbClr val="FFFFFF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98334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Slice</vt:lpstr>
      <vt:lpstr>Contract Monthly Claim System Overview </vt:lpstr>
      <vt:lpstr>PowerPoint Presentation</vt:lpstr>
      <vt:lpstr>Lecturer Claim Submission and Automation</vt:lpstr>
      <vt:lpstr>Claim Verification &amp; Approval (Coordinator/Manager)</vt:lpstr>
      <vt:lpstr>HR Invoice Generation &amp; Reporting</vt:lpstr>
      <vt:lpstr>Challenges and Solutions</vt:lpstr>
      <vt:lpstr>PowerPoint Summary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87</cp:revision>
  <dcterms:created xsi:type="dcterms:W3CDTF">2023-11-01T09:20:35Z</dcterms:created>
  <dcterms:modified xsi:type="dcterms:W3CDTF">2024-11-22T13:14:34Z</dcterms:modified>
</cp:coreProperties>
</file>